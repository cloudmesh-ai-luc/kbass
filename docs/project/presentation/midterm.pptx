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81F44"/>
                </a:solidFill>
                <a:latin typeface="Aptos"/>
              </a:defRPr>
            </a:pPr>
            <a:r>
              <a:t>AI-Assisted Cloud Monitoring &amp; Troubleshooting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97280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COMP 488 · Cloud Computing, DevOps, and AI ·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519672"/>
            <a:ext cx="7315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COMP 488  •  AI-Assisted Cloud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10881360" cy="3337560"/>
          </a:xfrm>
          <a:prstGeom prst="roundRect">
            <a:avLst/>
          </a:prstGeom>
          <a:solidFill>
            <a:srgbClr val="08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1498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Detect  •  Analyze  •  Explain  •  Resolve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49039"/>
            <a:ext cx="96012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10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Intermediate project progress and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5D6E84"/>
                </a:solidFill>
                <a:latin typeface="Aptos"/>
              </a:defRPr>
            </a:pPr>
            <a:r>
              <a:t>Khalidou Bass  |  Instructor: Gregor von Laszewski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81F44"/>
                </a:solidFill>
                <a:latin typeface="Aptos"/>
              </a:defRPr>
            </a:pPr>
            <a:r>
              <a:t>The problem and 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97280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Why cloud monitoring needs more than raw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519672"/>
            <a:ext cx="7315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COMP 488  •  AI-Assisted Cloud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53949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82296" cy="3566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19072"/>
            <a:ext cx="495604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7539D"/>
                </a:solidFill>
                <a:latin typeface="Aptos"/>
              </a:defRPr>
            </a:pPr>
            <a:r>
              <a:t>Operational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31136"/>
            <a:ext cx="4937760" cy="2798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Applications can fail, generate errors, or become unreachable. Metrics and alerts are useful, but understanding the cause still takes investigation.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3949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82296" cy="3566160"/>
          </a:xfrm>
          <a:prstGeom prst="rect">
            <a:avLst/>
          </a:prstGeom>
          <a:solidFill>
            <a:srgbClr val="1C8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719072"/>
            <a:ext cx="495604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C8867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231136"/>
            <a:ext cx="4937760" cy="2798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Build a practical monitoring pipeline, then extend it with AI-generated incident explanations and recommended troubleshooting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7539D"/>
                </a:solidFill>
                <a:latin typeface="Aptos"/>
              </a:defRPr>
            </a:pPr>
            <a:r>
              <a:t>Current milestone: a working local monitoring stack with live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81F44"/>
                </a:solidFill>
                <a:latin typeface="Aptos"/>
              </a:defRPr>
            </a:pPr>
            <a:r>
              <a:t>Target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97280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Project vision — includes components not yet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519672"/>
            <a:ext cx="7315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COMP 488  •  AI-Assisted Cloud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7" name="Picture 6" descr="project-overview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298448"/>
            <a:ext cx="7516368" cy="50109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81F44"/>
                </a:solidFill>
                <a:latin typeface="Aptos"/>
              </a:defRPr>
            </a:pPr>
            <a:r>
              <a:t>Deployment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97280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Local first, then research and public clouds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519672"/>
            <a:ext cx="7315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COMP 488  •  AI-Assisted Cloud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75887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82296" cy="320040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64792"/>
            <a:ext cx="3236975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7539D"/>
                </a:solidFill>
                <a:latin typeface="Aptos"/>
              </a:defRPr>
            </a:pPr>
            <a:r>
              <a:t>LOCAL: Lima +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76856"/>
            <a:ext cx="3218687" cy="2432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Planned: use Lima to provide a local Linux VM environment. Docker Compose currently runs the monitoring stack on macOS.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1600200"/>
            <a:ext cx="3675887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1104" y="1600200"/>
            <a:ext cx="82296" cy="3200400"/>
          </a:xfrm>
          <a:prstGeom prst="rect">
            <a:avLst/>
          </a:prstGeom>
          <a:solidFill>
            <a:srgbClr val="1CA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764792"/>
            <a:ext cx="3236975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CA2C4"/>
                </a:solidFill>
                <a:latin typeface="Aptos"/>
              </a:defRPr>
            </a:pPr>
            <a:r>
              <a:t>CHAMELEON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76856"/>
            <a:ext cx="3218687" cy="2432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Planned: deploy to an OpenStack-based research cloud and evaluate portability and monitoring behavior.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600200"/>
            <a:ext cx="3675887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9288" y="1600200"/>
            <a:ext cx="82296" cy="3200400"/>
          </a:xfrm>
          <a:prstGeom prst="rect">
            <a:avLst/>
          </a:prstGeom>
          <a:solidFill>
            <a:srgbClr val="1C8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764792"/>
            <a:ext cx="3236975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C8867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76856"/>
            <a:ext cx="3218687" cy="2432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Planned: deploy to a public cloud environment and compare deployment and operational considerations.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303520"/>
            <a:ext cx="1069848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Important: successful Lima tests in the separate Cloudmesh AI VM work do not yet establish deployment of this dashboard on Lima.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81F44"/>
                </a:solidFill>
                <a:latin typeface="Aptos"/>
              </a:defRPr>
            </a:pPr>
            <a:r>
              <a:t>What is implemented today?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97280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Three running Docker Compose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519672"/>
            <a:ext cx="7315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COMP 488  •  AI-Assisted Cloud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3685032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82296" cy="329184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37360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7539D"/>
                </a:solidFill>
                <a:latin typeface="Aptos"/>
              </a:defRPr>
            </a:pPr>
            <a:r>
              <a:t>FLASK · Port 8000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49424"/>
            <a:ext cx="3227832" cy="2523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GET /  — application information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GET /health  — health status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GET /metrics  — Prometheus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1572768"/>
            <a:ext cx="3685032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1104" y="1572768"/>
            <a:ext cx="82296" cy="3291840"/>
          </a:xfrm>
          <a:prstGeom prst="rect">
            <a:avLst/>
          </a:prstGeom>
          <a:solidFill>
            <a:srgbClr val="1CA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737360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CA2C4"/>
                </a:solidFill>
                <a:latin typeface="Aptos"/>
              </a:defRPr>
            </a:pPr>
            <a:r>
              <a:t>PROMETHEUS · Port 9090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49424"/>
            <a:ext cx="3227832" cy="2523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Scrapes Flask every 5 seconds. Evaluates alert rules every 5 seconds. Verified target status: up = 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572768"/>
            <a:ext cx="3685032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9288" y="1572768"/>
            <a:ext cx="82296" cy="3291840"/>
          </a:xfrm>
          <a:prstGeom prst="rect">
            <a:avLst/>
          </a:prstGeom>
          <a:solidFill>
            <a:srgbClr val="1C8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737360"/>
            <a:ext cx="32461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C8867"/>
                </a:solidFill>
                <a:latin typeface="Aptos"/>
              </a:defRPr>
            </a:pPr>
            <a:r>
              <a:t>GRAFANA · Port 3000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9424"/>
            <a:ext cx="3227832" cy="2523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Provisioned dashboard with four panels: request totals, successful requests, application status, and request rate.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257800"/>
            <a:ext cx="1088136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7539D"/>
                </a:solidFill>
                <a:latin typeface="Aptos"/>
              </a:defRPr>
            </a:pPr>
            <a:r>
              <a:t>Evidence: docker compose ps confirmed all three services running; Prometheus API returned up{job="flask-app"} =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81F44"/>
                </a:solidFill>
                <a:latin typeface="Aptos"/>
              </a:defRPr>
            </a:pPr>
            <a:r>
              <a:t>Live Grafana monitoring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97280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Actual screenshot from the running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519672"/>
            <a:ext cx="7315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COMP 488  •  AI-Assisted Cloud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7" name="Picture 6" descr="Screenshot 2026-10-12 at 11.00.34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436" y="1353312"/>
            <a:ext cx="6384647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81F44"/>
                </a:solidFill>
                <a:latin typeface="Aptos"/>
              </a:defRPr>
            </a:pPr>
            <a:r>
              <a:t>Incident detection and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97280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Prometheus rules are configured; incident firing still needs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519672"/>
            <a:ext cx="7315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COMP 488  •  AI-Assisted Cloud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4924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82296" cy="352044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0512"/>
            <a:ext cx="4910327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7539D"/>
                </a:solidFill>
                <a:latin typeface="Aptos"/>
              </a:defRPr>
            </a:pPr>
            <a:r>
              <a:t>APPLICATION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22576"/>
            <a:ext cx="4892040" cy="27523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Condition: up{job="flask-app"} == 0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Duration: 15 seconds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Severity: critical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4924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82296" cy="3520440"/>
          </a:xfrm>
          <a:prstGeom prst="rect">
            <a:avLst/>
          </a:prstGeom>
          <a:solidFill>
            <a:srgbClr val="1CA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10512"/>
            <a:ext cx="4910327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CA2C4"/>
                </a:solidFill>
                <a:latin typeface="Aptos"/>
              </a:defRPr>
            </a:pPr>
            <a:r>
              <a:t>HIGH ERROR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22576"/>
            <a:ext cx="4892040" cy="27523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Condition: &gt;5% HTTP 5xx requests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Duration: 30 seconds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Severity: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96128"/>
            <a:ext cx="105156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539D"/>
                </a:solidFill>
                <a:latin typeface="Aptos"/>
              </a:defRPr>
            </a:pPr>
            <a:r>
              <a:t>Demo idea: deliberately stop the Flask service and observe the Prometheus alert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81F44"/>
                </a:solidFill>
                <a:latin typeface="Aptos"/>
              </a:defRPr>
            </a:pPr>
            <a:r>
              <a:t>AI-assisted troubleshooting: next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97280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Planned capability — not yet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519672"/>
            <a:ext cx="7315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COMP 488  •  AI-Assisted Cloud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3520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82296" cy="347472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92224"/>
            <a:ext cx="308152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7539D"/>
                </a:solidFill>
                <a:latin typeface="Aptos"/>
              </a:defRPr>
            </a:pPr>
            <a:r>
              <a:t>1 ·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04288"/>
            <a:ext cx="3063240" cy="2706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Prometheus identifies a service outage or elevated error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627632"/>
            <a:ext cx="3520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627632"/>
            <a:ext cx="82296" cy="3474720"/>
          </a:xfrm>
          <a:prstGeom prst="rect">
            <a:avLst/>
          </a:prstGeom>
          <a:solidFill>
            <a:srgbClr val="1CA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792224"/>
            <a:ext cx="308152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CA2C4"/>
                </a:solidFill>
                <a:latin typeface="Aptos"/>
              </a:defRPr>
            </a:pPr>
            <a:r>
              <a:t>2 · 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04288"/>
            <a:ext cx="3063240" cy="2706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An LLM analyzes alert context and describes likely causes in plain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627632"/>
            <a:ext cx="352044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627632"/>
            <a:ext cx="82296" cy="3474720"/>
          </a:xfrm>
          <a:prstGeom prst="rect">
            <a:avLst/>
          </a:prstGeom>
          <a:solidFill>
            <a:srgbClr val="1C8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792224"/>
            <a:ext cx="308152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C8867"/>
                </a:solidFill>
                <a:latin typeface="Aptos"/>
              </a:defRPr>
            </a:pPr>
            <a:r>
              <a:t>3 · RECOMMEND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304288"/>
            <a:ext cx="3063240" cy="2706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Suggest safe diagnostic steps; any remediation requires administrator approval.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984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D6E84"/>
                </a:solidFill>
                <a:latin typeface="Aptos"/>
              </a:defRPr>
            </a:pPr>
            <a:r>
              <a:t>Optional extension: CloudOps Companion mobile interface with notifications and incident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81F44"/>
                </a:solidFill>
                <a:latin typeface="Aptos"/>
              </a:defRPr>
            </a:pPr>
            <a:r>
              <a:t>Demonstration and remaining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97280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A practical plan for the rest of the semester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519672"/>
            <a:ext cx="7315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COMP 488  •  AI-Assisted Cloud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5394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82296" cy="411480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19072"/>
            <a:ext cx="495604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7539D"/>
                </a:solidFill>
                <a:latin typeface="Aptos"/>
              </a:defRPr>
            </a:pPr>
            <a:r>
              <a:t>DEMO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31136"/>
            <a:ext cx="4937760" cy="33467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1. Open Flask /health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2. Show Prometheus target up = 1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3. Show live Grafana panels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4. Explain configured alert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54480"/>
            <a:ext cx="53949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54480"/>
            <a:ext cx="82296" cy="4114800"/>
          </a:xfrm>
          <a:prstGeom prst="rect">
            <a:avLst/>
          </a:prstGeom>
          <a:solidFill>
            <a:srgbClr val="1C8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19072"/>
            <a:ext cx="4956048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C8867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31136"/>
            <a:ext cx="4937760" cy="33467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1. Validate alert firing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2. Build incident-analysis component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3. Deploy via Lima locally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4. Evaluate Chameleon and AWS</a:t>
            </a:r>
          </a:p>
          <a:p>
            <a:pPr>
              <a:spcAft>
                <a:spcPts val="1000"/>
              </a:spcAft>
              <a:defRPr sz="1600" b="0">
                <a:solidFill>
                  <a:srgbClr val="081F44"/>
                </a:solidFill>
                <a:latin typeface="Aptos"/>
              </a:defRPr>
            </a:pPr>
            <a:r>
              <a:t>5. Explore Flutter mobile extension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75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081F44"/>
                </a:solidFill>
                <a:latin typeface="Aptos"/>
              </a:defRPr>
            </a:pPr>
            <a:r>
              <a:t>Key takeaways &amp; acknowledgements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14400"/>
            <a:ext cx="1097280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D6E84"/>
                </a:solidFill>
                <a:latin typeface="Aptos"/>
              </a:defRPr>
            </a:pPr>
            <a:r>
              <a:t>Intermediate progress — not the final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519672"/>
            <a:ext cx="7315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COMP 488  •  AI-Assisted Cloud Monitoring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spcAft>
                <a:spcPts val="1000"/>
              </a:spcAft>
              <a:defRPr sz="1000" b="0">
                <a:solidFill>
                  <a:srgbClr val="5D6E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9728" cy="109728"/>
          </a:xfrm>
          <a:prstGeom prst="roundRect">
            <a:avLst/>
          </a:prstGeom>
          <a:solidFill>
            <a:srgbClr val="1CA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517904"/>
            <a:ext cx="10424159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81F44"/>
                </a:solidFill>
                <a:latin typeface="Aptos"/>
              </a:defRPr>
            </a:pPr>
            <a:r>
              <a:t>Working containerized Flask–Prometheus–Grafana monitoring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51176"/>
            <a:ext cx="109728" cy="109728"/>
          </a:xfrm>
          <a:prstGeom prst="roundRect">
            <a:avLst/>
          </a:prstGeom>
          <a:solidFill>
            <a:srgbClr val="1CA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468880"/>
            <a:ext cx="10424159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81F44"/>
                </a:solidFill>
                <a:latin typeface="Aptos"/>
              </a:defRPr>
            </a:pPr>
            <a:r>
              <a:t>Live metrics and dashboard visualizations 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02152"/>
            <a:ext cx="109728" cy="109728"/>
          </a:xfrm>
          <a:prstGeom prst="roundRect">
            <a:avLst/>
          </a:prstGeom>
          <a:solidFill>
            <a:srgbClr val="1CA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419856"/>
            <a:ext cx="10424159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81F44"/>
                </a:solidFill>
                <a:latin typeface="Aptos"/>
              </a:defRPr>
            </a:pPr>
            <a:r>
              <a:t>Alert rules configured; AI analysis and multi-cloud deployment are next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53128"/>
            <a:ext cx="109728" cy="109728"/>
          </a:xfrm>
          <a:prstGeom prst="roundRect">
            <a:avLst/>
          </a:prstGeom>
          <a:solidFill>
            <a:srgbClr val="1CA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370832"/>
            <a:ext cx="10424159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81F44"/>
                </a:solidFill>
                <a:latin typeface="Aptos"/>
              </a:defRPr>
            </a:pPr>
            <a:r>
              <a:t>LLM assistance used for technical guidance, debugging, and documentation; implementation and verification remain the student’s responsibility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852160"/>
            <a:ext cx="10332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spcAft>
                <a:spcPts val="1000"/>
              </a:spcAft>
              <a:defRPr sz="2200" b="1">
                <a:solidFill>
                  <a:srgbClr val="17539D"/>
                </a:solidFill>
                <a:latin typeface="Aptos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